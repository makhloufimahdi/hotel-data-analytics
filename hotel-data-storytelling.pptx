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859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image" Target="../media/image1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4" Type="http://schemas.openxmlformats.org/officeDocument/2006/relationships/image" Target="../media/image13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Relationship Id="rId27" Type="http://schemas.openxmlformats.org/officeDocument/2006/relationships/image" Target="../media/image49.png"/><Relationship Id="rId30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1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1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13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1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5" Type="http://schemas.openxmlformats.org/officeDocument/2006/relationships/image" Target="../media/image10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24" Type="http://schemas.openxmlformats.org/officeDocument/2006/relationships/image" Target="../media/image104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23" Type="http://schemas.openxmlformats.org/officeDocument/2006/relationships/image" Target="../media/image103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13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Relationship Id="rId22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3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1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34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19" Type="http://schemas.openxmlformats.org/officeDocument/2006/relationships/image" Target="../media/image23.png"/><Relationship Id="rId4" Type="http://schemas.openxmlformats.org/officeDocument/2006/relationships/image" Target="../media/image13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54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3" Type="http://schemas.openxmlformats.org/officeDocument/2006/relationships/image" Target="../media/image1.png"/><Relationship Id="rId21" Type="http://schemas.openxmlformats.org/officeDocument/2006/relationships/image" Target="../media/image162.png"/><Relationship Id="rId7" Type="http://schemas.openxmlformats.org/officeDocument/2006/relationships/image" Target="../media/image149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2.png"/><Relationship Id="rId5" Type="http://schemas.openxmlformats.org/officeDocument/2006/relationships/image" Target="../media/image14.png"/><Relationship Id="rId15" Type="http://schemas.openxmlformats.org/officeDocument/2006/relationships/image" Target="../media/image156.png"/><Relationship Id="rId10" Type="http://schemas.openxmlformats.org/officeDocument/2006/relationships/image" Target="../media/image151.png"/><Relationship Id="rId19" Type="http://schemas.openxmlformats.org/officeDocument/2006/relationships/image" Target="../media/image160.png"/><Relationship Id="rId4" Type="http://schemas.openxmlformats.org/officeDocument/2006/relationships/image" Target="../media/image13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13" Type="http://schemas.openxmlformats.org/officeDocument/2006/relationships/image" Target="../media/image170.png"/><Relationship Id="rId3" Type="http://schemas.openxmlformats.org/officeDocument/2006/relationships/image" Target="../media/image1.png"/><Relationship Id="rId7" Type="http://schemas.openxmlformats.org/officeDocument/2006/relationships/image" Target="../media/image166.png"/><Relationship Id="rId12" Type="http://schemas.openxmlformats.org/officeDocument/2006/relationships/image" Target="../media/image108.png"/><Relationship Id="rId17" Type="http://schemas.openxmlformats.org/officeDocument/2006/relationships/image" Target="../media/image17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11" Type="http://schemas.openxmlformats.org/officeDocument/2006/relationships/image" Target="../media/image169.png"/><Relationship Id="rId5" Type="http://schemas.openxmlformats.org/officeDocument/2006/relationships/image" Target="../media/image164.png"/><Relationship Id="rId15" Type="http://schemas.openxmlformats.org/officeDocument/2006/relationships/image" Target="../media/image93.png"/><Relationship Id="rId10" Type="http://schemas.openxmlformats.org/officeDocument/2006/relationships/image" Target="../media/image168.png"/><Relationship Id="rId4" Type="http://schemas.openxmlformats.org/officeDocument/2006/relationships/image" Target="../media/image163.png"/><Relationship Id="rId9" Type="http://schemas.openxmlformats.org/officeDocument/2006/relationships/image" Target="../media/image23.png"/><Relationship Id="rId14" Type="http://schemas.openxmlformats.org/officeDocument/2006/relationships/image" Target="../media/image1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7200"/>
            <a:ext cx="12192000" cy="7315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554361"/>
            <a:ext cx="285750" cy="285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3200" y="2286000"/>
            <a:ext cx="295275" cy="3333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5211961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53600" y="5577780"/>
            <a:ext cx="3238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383161"/>
            <a:ext cx="3333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0" y="3017490"/>
            <a:ext cx="419100" cy="3333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4775" y="3219450"/>
            <a:ext cx="1714500" cy="1714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6475" y="3848100"/>
            <a:ext cx="40005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3725" y="3409950"/>
            <a:ext cx="1333500" cy="1333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400" y="5238750"/>
            <a:ext cx="7315200" cy="12573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598160" y="1733550"/>
            <a:ext cx="69955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158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Booking Data Analytics</a:t>
            </a:r>
            <a:endParaRPr lang="en-US" sz="3158" dirty="0"/>
          </a:p>
        </p:txBody>
      </p:sp>
      <p:sp>
        <p:nvSpPr>
          <p:cNvPr id="15" name="Text 1"/>
          <p:cNvSpPr/>
          <p:nvPr/>
        </p:nvSpPr>
        <p:spPr>
          <a:xfrm>
            <a:off x="2598160" y="2343150"/>
            <a:ext cx="69955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040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Data into Actionable Insights</a:t>
            </a:r>
            <a:endParaRPr lang="en-US" sz="2040" dirty="0"/>
          </a:p>
        </p:txBody>
      </p:sp>
      <p:sp>
        <p:nvSpPr>
          <p:cNvPr id="16" name="Text 2"/>
          <p:cNvSpPr/>
          <p:nvPr/>
        </p:nvSpPr>
        <p:spPr>
          <a:xfrm>
            <a:off x="2667000" y="5467350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i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"Imagine it's a sunny August morning: city hotels are fully booked, resorts are preparing for long-stay families, and the hotel team wonders—how can we make every booking count?"</a:t>
            </a:r>
            <a:endParaRPr lang="en-US" sz="1380" dirty="0"/>
          </a:p>
        </p:txBody>
      </p:sp>
      <p:sp>
        <p:nvSpPr>
          <p:cNvPr id="17" name="Text 3"/>
          <p:cNvSpPr/>
          <p:nvPr/>
        </p:nvSpPr>
        <p:spPr>
          <a:xfrm>
            <a:off x="10221664" y="7277100"/>
            <a:ext cx="18320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Date: 2025-09-19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43000"/>
            <a:ext cx="112776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362200"/>
            <a:ext cx="3606701" cy="2209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5750" y="25527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1963" y="2705100"/>
            <a:ext cx="25717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2362200"/>
            <a:ext cx="3606850" cy="2209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051" y="25527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5839" y="27051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2362200"/>
            <a:ext cx="3606701" cy="2209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6501" y="25527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31288" y="2705100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5314950"/>
            <a:ext cx="47625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42925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67600" y="4876800"/>
            <a:ext cx="4267200" cy="1447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– The Problem</a:t>
            </a:r>
            <a:endParaRPr lang="en-US" sz="2426" dirty="0"/>
          </a:p>
        </p:txBody>
      </p:sp>
      <p:sp>
        <p:nvSpPr>
          <p:cNvPr id="18" name="Text 1"/>
          <p:cNvSpPr/>
          <p:nvPr/>
        </p:nvSpPr>
        <p:spPr>
          <a:xfrm>
            <a:off x="647700" y="1333500"/>
            <a:ext cx="1089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hotels handle tens of thousands of bookings every year, but where does the revenue really come from? Who are our most valuable guests? And which months need extra attention?</a:t>
            </a:r>
            <a:endParaRPr lang="en-US" sz="1380" dirty="0"/>
          </a:p>
        </p:txBody>
      </p:sp>
      <p:sp>
        <p:nvSpPr>
          <p:cNvPr id="19" name="Text 2"/>
          <p:cNvSpPr/>
          <p:nvPr/>
        </p:nvSpPr>
        <p:spPr>
          <a:xfrm>
            <a:off x="647700" y="3314700"/>
            <a:ext cx="32257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Where does revenue come from?</a:t>
            </a:r>
            <a:endParaRPr lang="en-US" sz="1380" dirty="0"/>
          </a:p>
        </p:txBody>
      </p:sp>
      <p:sp>
        <p:nvSpPr>
          <p:cNvPr id="20" name="Text 3"/>
          <p:cNvSpPr/>
          <p:nvPr/>
        </p:nvSpPr>
        <p:spPr>
          <a:xfrm>
            <a:off x="647700" y="3924300"/>
            <a:ext cx="3225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the distribution channels and their impact on revenue generation</a:t>
            </a:r>
            <a:endParaRPr lang="en-US" sz="1120" dirty="0"/>
          </a:p>
        </p:txBody>
      </p:sp>
      <p:sp>
        <p:nvSpPr>
          <p:cNvPr id="21" name="Text 4"/>
          <p:cNvSpPr/>
          <p:nvPr/>
        </p:nvSpPr>
        <p:spPr>
          <a:xfrm>
            <a:off x="4572357" y="3314700"/>
            <a:ext cx="30469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Who are valuable guests?</a:t>
            </a:r>
            <a:endParaRPr lang="en-US" sz="1380" dirty="0"/>
          </a:p>
        </p:txBody>
      </p:sp>
      <p:sp>
        <p:nvSpPr>
          <p:cNvPr id="22" name="Text 5"/>
          <p:cNvSpPr/>
          <p:nvPr/>
        </p:nvSpPr>
        <p:spPr>
          <a:xfrm>
            <a:off x="4483001" y="3657600"/>
            <a:ext cx="322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Identifying high-value customer segments and their booking behaviors</a:t>
            </a:r>
            <a:endParaRPr lang="en-US" sz="1120" dirty="0"/>
          </a:p>
        </p:txBody>
      </p:sp>
      <p:sp>
        <p:nvSpPr>
          <p:cNvPr id="23" name="Text 6"/>
          <p:cNvSpPr/>
          <p:nvPr/>
        </p:nvSpPr>
        <p:spPr>
          <a:xfrm>
            <a:off x="8318450" y="3314700"/>
            <a:ext cx="32257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months need attention?</a:t>
            </a:r>
            <a:endParaRPr lang="en-US" sz="1380" dirty="0"/>
          </a:p>
        </p:txBody>
      </p:sp>
      <p:sp>
        <p:nvSpPr>
          <p:cNvPr id="24" name="Text 7"/>
          <p:cNvSpPr/>
          <p:nvPr/>
        </p:nvSpPr>
        <p:spPr>
          <a:xfrm>
            <a:off x="8318450" y="3924300"/>
            <a:ext cx="3225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Recognizing seasonal patterns to optimize resource allocation</a:t>
            </a:r>
            <a:endParaRPr lang="en-US" sz="1120" dirty="0"/>
          </a:p>
        </p:txBody>
      </p:sp>
      <p:sp>
        <p:nvSpPr>
          <p:cNvPr id="25" name="Text 8"/>
          <p:cNvSpPr/>
          <p:nvPr/>
        </p:nvSpPr>
        <p:spPr>
          <a:xfrm>
            <a:off x="1085850" y="5257800"/>
            <a:ext cx="1395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Challenge:</a:t>
            </a:r>
            <a:endParaRPr lang="en-US" sz="1120" dirty="0"/>
          </a:p>
        </p:txBody>
      </p:sp>
      <p:sp>
        <p:nvSpPr>
          <p:cNvPr id="26" name="Text 9"/>
          <p:cNvSpPr/>
          <p:nvPr/>
        </p:nvSpPr>
        <p:spPr>
          <a:xfrm>
            <a:off x="1085850" y="5486400"/>
            <a:ext cx="1395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87,000 bookings</a:t>
            </a:r>
            <a:endParaRPr lang="en-US" sz="1120" dirty="0"/>
          </a:p>
        </p:txBody>
      </p:sp>
      <p:sp>
        <p:nvSpPr>
          <p:cNvPr id="27" name="Text 10"/>
          <p:cNvSpPr/>
          <p:nvPr/>
        </p:nvSpPr>
        <p:spPr>
          <a:xfrm>
            <a:off x="1085850" y="5715000"/>
            <a:ext cx="1395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9.76M revenue</a:t>
            </a:r>
            <a:endParaRPr lang="en-US" sz="1120" dirty="0"/>
          </a:p>
        </p:txBody>
      </p:sp>
      <p:sp>
        <p:nvSpPr>
          <p:cNvPr id="28" name="Text 11"/>
          <p:cNvSpPr/>
          <p:nvPr/>
        </p:nvSpPr>
        <p:spPr>
          <a:xfrm>
            <a:off x="7620000" y="5029200"/>
            <a:ext cx="396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"The core objective of this analysis is to transform raw booking data into clear, strategic business actions that address these fundamental questions, ultimately optimizing our operations and enhancing guest satisfaction."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112776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335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133600"/>
            <a:ext cx="243840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286000"/>
            <a:ext cx="342900" cy="419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3622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87588" y="2686050"/>
            <a:ext cx="1238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3402" y="2133600"/>
            <a:ext cx="2438400" cy="1371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55802" y="2286000"/>
            <a:ext cx="390525" cy="419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32002" y="236220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3790" y="2686050"/>
            <a:ext cx="1238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49603" y="2133600"/>
            <a:ext cx="24384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2003" y="2286000"/>
            <a:ext cx="323850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8203" y="236220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9991" y="2686050"/>
            <a:ext cx="1238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5805" y="2133600"/>
            <a:ext cx="2438400" cy="1371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48205" y="2286000"/>
            <a:ext cx="342900" cy="419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24405" y="23622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3810000"/>
            <a:ext cx="5486400" cy="1981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400050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4388" y="4095750"/>
            <a:ext cx="12382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" y="4572000"/>
            <a:ext cx="5105400" cy="1028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2000" y="5257800"/>
            <a:ext cx="1550789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88989" y="5257800"/>
            <a:ext cx="1262211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3810000"/>
            <a:ext cx="5486400" cy="1981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38900" y="4000500"/>
            <a:ext cx="457200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05588" y="4095750"/>
            <a:ext cx="12382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38900" y="4572000"/>
            <a:ext cx="5105400" cy="1028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3200" y="5257800"/>
            <a:ext cx="1112639" cy="228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42039" y="5257800"/>
            <a:ext cx="1294805" cy="2286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Journey – Our Detective Work</a:t>
            </a:r>
            <a:endParaRPr lang="en-US" sz="2426" dirty="0"/>
          </a:p>
        </p:txBody>
      </p:sp>
      <p:sp>
        <p:nvSpPr>
          <p:cNvPr id="35" name="Text 1"/>
          <p:cNvSpPr/>
          <p:nvPr/>
        </p:nvSpPr>
        <p:spPr>
          <a:xfrm>
            <a:off x="1219200" y="1219200"/>
            <a:ext cx="10363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 traced every booking like a detective: inspecting raw data → cleaning → creating a database → analyzing trends.</a:t>
            </a:r>
            <a:endParaRPr lang="en-US" sz="1380" dirty="0"/>
          </a:p>
        </p:txBody>
      </p:sp>
      <p:sp>
        <p:nvSpPr>
          <p:cNvPr id="36" name="Text 2"/>
          <p:cNvSpPr/>
          <p:nvPr/>
        </p:nvSpPr>
        <p:spPr>
          <a:xfrm>
            <a:off x="1028700" y="2381250"/>
            <a:ext cx="9915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Inspecting</a:t>
            </a:r>
            <a:endParaRPr lang="en-US" sz="1120" dirty="0"/>
          </a:p>
        </p:txBody>
      </p:sp>
      <p:sp>
        <p:nvSpPr>
          <p:cNvPr id="37" name="Text 3"/>
          <p:cNvSpPr/>
          <p:nvPr/>
        </p:nvSpPr>
        <p:spPr>
          <a:xfrm>
            <a:off x="609600" y="27813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Examining booking dates, hotel types, customer countries, meal plans, and more</a:t>
            </a:r>
            <a:endParaRPr lang="en-US" sz="980" dirty="0"/>
          </a:p>
        </p:txBody>
      </p:sp>
      <p:sp>
        <p:nvSpPr>
          <p:cNvPr id="38" name="Text 4"/>
          <p:cNvSpPr/>
          <p:nvPr/>
        </p:nvSpPr>
        <p:spPr>
          <a:xfrm>
            <a:off x="4022527" y="2381250"/>
            <a:ext cx="823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Cleaning</a:t>
            </a:r>
            <a:endParaRPr lang="en-US" sz="1120" dirty="0"/>
          </a:p>
        </p:txBody>
      </p:sp>
      <p:sp>
        <p:nvSpPr>
          <p:cNvPr id="39" name="Text 5"/>
          <p:cNvSpPr/>
          <p:nvPr/>
        </p:nvSpPr>
        <p:spPr>
          <a:xfrm>
            <a:off x="3555802" y="27813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Removing duplicates, standardizing formats, and correcting inconsistencies</a:t>
            </a:r>
            <a:endParaRPr lang="en-US" sz="980" dirty="0"/>
          </a:p>
        </p:txBody>
      </p:sp>
      <p:sp>
        <p:nvSpPr>
          <p:cNvPr id="40" name="Text 6"/>
          <p:cNvSpPr/>
          <p:nvPr/>
        </p:nvSpPr>
        <p:spPr>
          <a:xfrm>
            <a:off x="6902053" y="2381250"/>
            <a:ext cx="809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Creating</a:t>
            </a:r>
            <a:endParaRPr lang="en-US" sz="1120" dirty="0"/>
          </a:p>
        </p:txBody>
      </p:sp>
      <p:sp>
        <p:nvSpPr>
          <p:cNvPr id="41" name="Text 7"/>
          <p:cNvSpPr/>
          <p:nvPr/>
        </p:nvSpPr>
        <p:spPr>
          <a:xfrm>
            <a:off x="6502003" y="27813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Building structured database with tables for bookings, customers, hotels</a:t>
            </a:r>
            <a:endParaRPr lang="en-US" sz="980" dirty="0"/>
          </a:p>
        </p:txBody>
      </p:sp>
      <p:sp>
        <p:nvSpPr>
          <p:cNvPr id="42" name="Text 8"/>
          <p:cNvSpPr/>
          <p:nvPr/>
        </p:nvSpPr>
        <p:spPr>
          <a:xfrm>
            <a:off x="9867305" y="2381250"/>
            <a:ext cx="9233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Analyzing</a:t>
            </a:r>
            <a:endParaRPr lang="en-US" sz="1120" dirty="0"/>
          </a:p>
        </p:txBody>
      </p:sp>
      <p:sp>
        <p:nvSpPr>
          <p:cNvPr id="43" name="Text 9"/>
          <p:cNvSpPr/>
          <p:nvPr/>
        </p:nvSpPr>
        <p:spPr>
          <a:xfrm>
            <a:off x="9448205" y="2781300"/>
            <a:ext cx="213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Running SQL queries and developing dashboards to uncover insights</a:t>
            </a:r>
            <a:endParaRPr lang="en-US" sz="980" dirty="0"/>
          </a:p>
        </p:txBody>
      </p:sp>
      <p:sp>
        <p:nvSpPr>
          <p:cNvPr id="44" name="Text 10"/>
          <p:cNvSpPr/>
          <p:nvPr/>
        </p:nvSpPr>
        <p:spPr>
          <a:xfrm>
            <a:off x="1219200" y="4000500"/>
            <a:ext cx="24489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Meet Anna</a:t>
            </a:r>
            <a:endParaRPr lang="en-US" sz="1380" dirty="0"/>
          </a:p>
        </p:txBody>
      </p:sp>
      <p:sp>
        <p:nvSpPr>
          <p:cNvPr id="45" name="Text 11"/>
          <p:cNvSpPr/>
          <p:nvPr/>
        </p:nvSpPr>
        <p:spPr>
          <a:xfrm>
            <a:off x="1219200" y="4267200"/>
            <a:ext cx="24489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Last-minute traveler from Europe</a:t>
            </a:r>
            <a:endParaRPr lang="en-US" sz="980" dirty="0"/>
          </a:p>
        </p:txBody>
      </p:sp>
      <p:sp>
        <p:nvSpPr>
          <p:cNvPr id="46" name="Text 12"/>
          <p:cNvSpPr/>
          <p:nvPr/>
        </p:nvSpPr>
        <p:spPr>
          <a:xfrm>
            <a:off x="762000" y="46863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"Spontaneous European traveler booking at the last minute. Values freedom and flexibility in her travels."</a:t>
            </a:r>
            <a:endParaRPr lang="en-US" sz="1120" dirty="0"/>
          </a:p>
        </p:txBody>
      </p:sp>
      <p:sp>
        <p:nvSpPr>
          <p:cNvPr id="47" name="Text 13"/>
          <p:cNvSpPr/>
          <p:nvPr/>
        </p:nvSpPr>
        <p:spPr>
          <a:xfrm>
            <a:off x="838200" y="5257800"/>
            <a:ext cx="1705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Last-minute bookings</a:t>
            </a:r>
            <a:endParaRPr lang="en-US" sz="840" dirty="0"/>
          </a:p>
        </p:txBody>
      </p:sp>
      <p:sp>
        <p:nvSpPr>
          <p:cNvPr id="48" name="Text 14"/>
          <p:cNvSpPr/>
          <p:nvPr/>
        </p:nvSpPr>
        <p:spPr>
          <a:xfrm>
            <a:off x="2465189" y="5257800"/>
            <a:ext cx="1388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European market</a:t>
            </a:r>
            <a:endParaRPr lang="en-US" sz="840" dirty="0"/>
          </a:p>
        </p:txBody>
      </p:sp>
      <p:sp>
        <p:nvSpPr>
          <p:cNvPr id="49" name="Text 15"/>
          <p:cNvSpPr/>
          <p:nvPr/>
        </p:nvSpPr>
        <p:spPr>
          <a:xfrm>
            <a:off x="7010400" y="4000500"/>
            <a:ext cx="32288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Meet John</a:t>
            </a:r>
            <a:endParaRPr lang="en-US" sz="1380" dirty="0"/>
          </a:p>
        </p:txBody>
      </p:sp>
      <p:sp>
        <p:nvSpPr>
          <p:cNvPr id="50" name="Text 16"/>
          <p:cNvSpPr/>
          <p:nvPr/>
        </p:nvSpPr>
        <p:spPr>
          <a:xfrm>
            <a:off x="7010400" y="4267200"/>
            <a:ext cx="32288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Corporate traveler booking 3 months ahead</a:t>
            </a:r>
            <a:endParaRPr lang="en-US" sz="980" dirty="0"/>
          </a:p>
        </p:txBody>
      </p:sp>
      <p:sp>
        <p:nvSpPr>
          <p:cNvPr id="51" name="Text 17"/>
          <p:cNvSpPr/>
          <p:nvPr/>
        </p:nvSpPr>
        <p:spPr>
          <a:xfrm>
            <a:off x="6553200" y="46863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"Business traveler planning his stay three months in advance. Values location and network connectivity."</a:t>
            </a:r>
            <a:endParaRPr lang="en-US" sz="1120" dirty="0"/>
          </a:p>
        </p:txBody>
      </p:sp>
      <p:sp>
        <p:nvSpPr>
          <p:cNvPr id="52" name="Text 18"/>
          <p:cNvSpPr/>
          <p:nvPr/>
        </p:nvSpPr>
        <p:spPr>
          <a:xfrm>
            <a:off x="6629400" y="5257800"/>
            <a:ext cx="12239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 lead time</a:t>
            </a:r>
            <a:endParaRPr lang="en-US" sz="840" dirty="0"/>
          </a:p>
        </p:txBody>
      </p:sp>
      <p:sp>
        <p:nvSpPr>
          <p:cNvPr id="53" name="Text 19"/>
          <p:cNvSpPr/>
          <p:nvPr/>
        </p:nvSpPr>
        <p:spPr>
          <a:xfrm>
            <a:off x="7818239" y="5257800"/>
            <a:ext cx="14242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200"/>
              </a:lnSpc>
              <a:buNone/>
            </a:pPr>
            <a:r>
              <a:rPr lang="en-US" sz="840" b="1" dirty="0">
                <a:solidFill>
                  <a:srgbClr val="3730A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Corporate market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34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934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112776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6900"/>
            <a:ext cx="3606701" cy="1600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0955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1866900"/>
            <a:ext cx="3606850" cy="1600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3001" y="2057400"/>
            <a:ext cx="371475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301" y="2171700"/>
            <a:ext cx="1428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7950" y="1866900"/>
            <a:ext cx="3606701" cy="1600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8450" y="2057400"/>
            <a:ext cx="428625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750" y="21717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695700"/>
            <a:ext cx="5524500" cy="1714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886200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3695700"/>
            <a:ext cx="5524500" cy="1714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88620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7200" y="5638800"/>
            <a:ext cx="11277600" cy="838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61341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94917" y="61341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51213" y="6134100"/>
            <a:ext cx="1143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7341" y="6134100"/>
            <a:ext cx="190500" cy="152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– Who Are Our Guests?</a:t>
            </a:r>
            <a:endParaRPr lang="en-US" sz="2426" dirty="0"/>
          </a:p>
        </p:txBody>
      </p:sp>
      <p:sp>
        <p:nvSpPr>
          <p:cNvPr id="23" name="Text 1"/>
          <p:cNvSpPr/>
          <p:nvPr/>
        </p:nvSpPr>
        <p:spPr>
          <a:xfrm>
            <a:off x="609600" y="121920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City hotels are buzzing with business travelers, while resorts see families and leisure travelers.</a:t>
            </a:r>
            <a:endParaRPr lang="en-US" sz="1260" dirty="0"/>
          </a:p>
        </p:txBody>
      </p:sp>
      <p:sp>
        <p:nvSpPr>
          <p:cNvPr id="24" name="Text 2"/>
          <p:cNvSpPr/>
          <p:nvPr/>
        </p:nvSpPr>
        <p:spPr>
          <a:xfrm>
            <a:off x="990600" y="2057400"/>
            <a:ext cx="54483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87K</a:t>
            </a:r>
            <a:endParaRPr lang="en-US" sz="1646" dirty="0"/>
          </a:p>
        </p:txBody>
      </p:sp>
      <p:sp>
        <p:nvSpPr>
          <p:cNvPr id="25" name="Text 3"/>
          <p:cNvSpPr/>
          <p:nvPr/>
        </p:nvSpPr>
        <p:spPr>
          <a:xfrm>
            <a:off x="647700" y="2476500"/>
            <a:ext cx="35482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Bookings this year</a:t>
            </a:r>
            <a:endParaRPr lang="en-US" sz="1260" dirty="0"/>
          </a:p>
        </p:txBody>
      </p:sp>
      <p:sp>
        <p:nvSpPr>
          <p:cNvPr id="26" name="Text 4"/>
          <p:cNvSpPr/>
          <p:nvPr/>
        </p:nvSpPr>
        <p:spPr>
          <a:xfrm>
            <a:off x="647700" y="2819400"/>
            <a:ext cx="3225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87,000 stories of travelers from around the world</a:t>
            </a:r>
            <a:endParaRPr lang="en-US" sz="1120" dirty="0"/>
          </a:p>
        </p:txBody>
      </p:sp>
      <p:sp>
        <p:nvSpPr>
          <p:cNvPr id="27" name="Text 5"/>
          <p:cNvSpPr/>
          <p:nvPr/>
        </p:nvSpPr>
        <p:spPr>
          <a:xfrm>
            <a:off x="4968776" y="2171700"/>
            <a:ext cx="10456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$9.76M</a:t>
            </a:r>
            <a:endParaRPr lang="en-US" sz="1646" dirty="0"/>
          </a:p>
        </p:txBody>
      </p:sp>
      <p:sp>
        <p:nvSpPr>
          <p:cNvPr id="28" name="Text 6"/>
          <p:cNvSpPr/>
          <p:nvPr/>
        </p:nvSpPr>
        <p:spPr>
          <a:xfrm>
            <a:off x="4483001" y="2705100"/>
            <a:ext cx="35484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Generated</a:t>
            </a:r>
            <a:endParaRPr lang="en-US" sz="1260" dirty="0"/>
          </a:p>
        </p:txBody>
      </p:sp>
      <p:sp>
        <p:nvSpPr>
          <p:cNvPr id="29" name="Text 7"/>
          <p:cNvSpPr/>
          <p:nvPr/>
        </p:nvSpPr>
        <p:spPr>
          <a:xfrm>
            <a:off x="4483001" y="3048000"/>
            <a:ext cx="3548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our loyal guests' stays</a:t>
            </a:r>
            <a:endParaRPr lang="en-US" sz="1120" dirty="0"/>
          </a:p>
        </p:txBody>
      </p:sp>
      <p:sp>
        <p:nvSpPr>
          <p:cNvPr id="30" name="Text 8"/>
          <p:cNvSpPr/>
          <p:nvPr/>
        </p:nvSpPr>
        <p:spPr>
          <a:xfrm>
            <a:off x="8861375" y="2171700"/>
            <a:ext cx="112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79 Days</a:t>
            </a:r>
            <a:endParaRPr lang="en-US" sz="1646" dirty="0"/>
          </a:p>
        </p:txBody>
      </p:sp>
      <p:sp>
        <p:nvSpPr>
          <p:cNvPr id="31" name="Text 9"/>
          <p:cNvSpPr/>
          <p:nvPr/>
        </p:nvSpPr>
        <p:spPr>
          <a:xfrm>
            <a:off x="8318450" y="2705100"/>
            <a:ext cx="35482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Average Lead Time</a:t>
            </a:r>
            <a:endParaRPr lang="en-US" sz="1260" dirty="0"/>
          </a:p>
        </p:txBody>
      </p:sp>
      <p:sp>
        <p:nvSpPr>
          <p:cNvPr id="32" name="Text 10"/>
          <p:cNvSpPr/>
          <p:nvPr/>
        </p:nvSpPr>
        <p:spPr>
          <a:xfrm>
            <a:off x="8318450" y="3048000"/>
            <a:ext cx="35482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Guests plan their trips far ahead</a:t>
            </a:r>
            <a:endParaRPr lang="en-US" sz="1120" dirty="0"/>
          </a:p>
        </p:txBody>
      </p:sp>
      <p:sp>
        <p:nvSpPr>
          <p:cNvPr id="33" name="Text 11"/>
          <p:cNvSpPr/>
          <p:nvPr/>
        </p:nvSpPr>
        <p:spPr>
          <a:xfrm>
            <a:off x="933450" y="3905250"/>
            <a:ext cx="1293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City Hotels</a:t>
            </a:r>
            <a:endParaRPr lang="en-US" sz="1380" dirty="0"/>
          </a:p>
        </p:txBody>
      </p:sp>
      <p:sp>
        <p:nvSpPr>
          <p:cNvPr id="34" name="Text 12"/>
          <p:cNvSpPr/>
          <p:nvPr/>
        </p:nvSpPr>
        <p:spPr>
          <a:xfrm>
            <a:off x="647700" y="4305300"/>
            <a:ext cx="820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Bookings:</a:t>
            </a:r>
            <a:endParaRPr lang="en-US" sz="1120" dirty="0"/>
          </a:p>
        </p:txBody>
      </p:sp>
      <p:sp>
        <p:nvSpPr>
          <p:cNvPr id="35" name="Text 13"/>
          <p:cNvSpPr/>
          <p:nvPr/>
        </p:nvSpPr>
        <p:spPr>
          <a:xfrm>
            <a:off x="5426422" y="4305300"/>
            <a:ext cx="40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61%</a:t>
            </a:r>
            <a:endParaRPr lang="en-US" sz="1120" dirty="0"/>
          </a:p>
        </p:txBody>
      </p:sp>
      <p:sp>
        <p:nvSpPr>
          <p:cNvPr id="36" name="Text 14"/>
          <p:cNvSpPr/>
          <p:nvPr/>
        </p:nvSpPr>
        <p:spPr>
          <a:xfrm>
            <a:off x="647700" y="4648200"/>
            <a:ext cx="411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ADR:</a:t>
            </a:r>
            <a:endParaRPr lang="en-US" sz="1120" dirty="0"/>
          </a:p>
        </p:txBody>
      </p:sp>
      <p:sp>
        <p:nvSpPr>
          <p:cNvPr id="37" name="Text 15"/>
          <p:cNvSpPr/>
          <p:nvPr/>
        </p:nvSpPr>
        <p:spPr>
          <a:xfrm>
            <a:off x="5270004" y="4648200"/>
            <a:ext cx="573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Lower</a:t>
            </a:r>
            <a:endParaRPr lang="en-US" sz="1120" dirty="0"/>
          </a:p>
        </p:txBody>
      </p:sp>
      <p:sp>
        <p:nvSpPr>
          <p:cNvPr id="38" name="Text 16"/>
          <p:cNvSpPr/>
          <p:nvPr/>
        </p:nvSpPr>
        <p:spPr>
          <a:xfrm>
            <a:off x="647700" y="4991100"/>
            <a:ext cx="4184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Stay:</a:t>
            </a:r>
            <a:endParaRPr lang="en-US" sz="1120" dirty="0"/>
          </a:p>
        </p:txBody>
      </p:sp>
      <p:sp>
        <p:nvSpPr>
          <p:cNvPr id="39" name="Text 17"/>
          <p:cNvSpPr/>
          <p:nvPr/>
        </p:nvSpPr>
        <p:spPr>
          <a:xfrm>
            <a:off x="5141714" y="4991100"/>
            <a:ext cx="7144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Shorter</a:t>
            </a:r>
            <a:endParaRPr lang="en-US" sz="1120" dirty="0"/>
          </a:p>
        </p:txBody>
      </p:sp>
      <p:sp>
        <p:nvSpPr>
          <p:cNvPr id="40" name="Text 18"/>
          <p:cNvSpPr/>
          <p:nvPr/>
        </p:nvSpPr>
        <p:spPr>
          <a:xfrm>
            <a:off x="6800850" y="3905250"/>
            <a:ext cx="16068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Resort Hotels</a:t>
            </a:r>
            <a:endParaRPr lang="en-US" sz="1380" dirty="0"/>
          </a:p>
        </p:txBody>
      </p:sp>
      <p:sp>
        <p:nvSpPr>
          <p:cNvPr id="41" name="Text 19"/>
          <p:cNvSpPr/>
          <p:nvPr/>
        </p:nvSpPr>
        <p:spPr>
          <a:xfrm>
            <a:off x="6400800" y="4305300"/>
            <a:ext cx="820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Bookings:</a:t>
            </a:r>
            <a:endParaRPr lang="en-US" sz="1120" dirty="0"/>
          </a:p>
        </p:txBody>
      </p:sp>
      <p:sp>
        <p:nvSpPr>
          <p:cNvPr id="42" name="Text 20"/>
          <p:cNvSpPr/>
          <p:nvPr/>
        </p:nvSpPr>
        <p:spPr>
          <a:xfrm>
            <a:off x="11179522" y="4305300"/>
            <a:ext cx="40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39%</a:t>
            </a:r>
            <a:endParaRPr lang="en-US" sz="1120" dirty="0"/>
          </a:p>
        </p:txBody>
      </p:sp>
      <p:sp>
        <p:nvSpPr>
          <p:cNvPr id="43" name="Text 21"/>
          <p:cNvSpPr/>
          <p:nvPr/>
        </p:nvSpPr>
        <p:spPr>
          <a:xfrm>
            <a:off x="6400800" y="4648200"/>
            <a:ext cx="411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ADR:</a:t>
            </a:r>
            <a:endParaRPr lang="en-US" sz="1120" dirty="0"/>
          </a:p>
        </p:txBody>
      </p:sp>
      <p:sp>
        <p:nvSpPr>
          <p:cNvPr id="44" name="Text 22"/>
          <p:cNvSpPr/>
          <p:nvPr/>
        </p:nvSpPr>
        <p:spPr>
          <a:xfrm>
            <a:off x="10968335" y="4648200"/>
            <a:ext cx="633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</a:t>
            </a:r>
            <a:endParaRPr lang="en-US" sz="1120" dirty="0"/>
          </a:p>
        </p:txBody>
      </p:sp>
      <p:sp>
        <p:nvSpPr>
          <p:cNvPr id="45" name="Text 23"/>
          <p:cNvSpPr/>
          <p:nvPr/>
        </p:nvSpPr>
        <p:spPr>
          <a:xfrm>
            <a:off x="6400800" y="4991100"/>
            <a:ext cx="4184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Stay:</a:t>
            </a:r>
            <a:endParaRPr lang="en-US" sz="1120" dirty="0"/>
          </a:p>
        </p:txBody>
      </p:sp>
      <p:sp>
        <p:nvSpPr>
          <p:cNvPr id="46" name="Text 24"/>
          <p:cNvSpPr/>
          <p:nvPr/>
        </p:nvSpPr>
        <p:spPr>
          <a:xfrm>
            <a:off x="10946309" y="4991100"/>
            <a:ext cx="657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Longer</a:t>
            </a:r>
            <a:endParaRPr lang="en-US" sz="1120" dirty="0"/>
          </a:p>
        </p:txBody>
      </p:sp>
      <p:sp>
        <p:nvSpPr>
          <p:cNvPr id="47" name="Text 25"/>
          <p:cNvSpPr/>
          <p:nvPr/>
        </p:nvSpPr>
        <p:spPr>
          <a:xfrm>
            <a:off x="609600" y="5791200"/>
            <a:ext cx="5103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Top Booking Channels:</a:t>
            </a:r>
            <a:endParaRPr lang="en-US" sz="1120" dirty="0"/>
          </a:p>
        </p:txBody>
      </p:sp>
      <p:sp>
        <p:nvSpPr>
          <p:cNvPr id="48" name="Text 26"/>
          <p:cNvSpPr/>
          <p:nvPr/>
        </p:nvSpPr>
        <p:spPr>
          <a:xfrm>
            <a:off x="838200" y="6096000"/>
            <a:ext cx="12409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TA/TO: 70.68%</a:t>
            </a:r>
            <a:endParaRPr lang="en-US" sz="1120" dirty="0"/>
          </a:p>
        </p:txBody>
      </p:sp>
      <p:sp>
        <p:nvSpPr>
          <p:cNvPr id="49" name="Text 27"/>
          <p:cNvSpPr/>
          <p:nvPr/>
        </p:nvSpPr>
        <p:spPr>
          <a:xfrm>
            <a:off x="2385417" y="6096000"/>
            <a:ext cx="12509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Direct: 21.76%</a:t>
            </a:r>
            <a:endParaRPr lang="en-US" sz="1120" dirty="0"/>
          </a:p>
        </p:txBody>
      </p:sp>
      <p:sp>
        <p:nvSpPr>
          <p:cNvPr id="50" name="Text 28"/>
          <p:cNvSpPr/>
          <p:nvPr/>
        </p:nvSpPr>
        <p:spPr>
          <a:xfrm>
            <a:off x="3903613" y="6096000"/>
            <a:ext cx="1480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Corporate: 7.56%</a:t>
            </a:r>
            <a:endParaRPr lang="en-US" sz="1120" dirty="0"/>
          </a:p>
        </p:txBody>
      </p:sp>
      <p:sp>
        <p:nvSpPr>
          <p:cNvPr id="51" name="Text 29"/>
          <p:cNvSpPr/>
          <p:nvPr/>
        </p:nvSpPr>
        <p:spPr>
          <a:xfrm>
            <a:off x="8967341" y="5791200"/>
            <a:ext cx="28765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Room Preference:</a:t>
            </a:r>
            <a:endParaRPr lang="en-US" sz="1120" dirty="0"/>
          </a:p>
        </p:txBody>
      </p:sp>
      <p:sp>
        <p:nvSpPr>
          <p:cNvPr id="52" name="Text 30"/>
          <p:cNvSpPr/>
          <p:nvPr/>
        </p:nvSpPr>
        <p:spPr>
          <a:xfrm>
            <a:off x="9195941" y="6096000"/>
            <a:ext cx="2625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A rooms dominate (~69K)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90600"/>
            <a:ext cx="11277600" cy="495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638300"/>
            <a:ext cx="5564684" cy="3657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90700"/>
            <a:ext cx="5257800" cy="3352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284" y="1638300"/>
            <a:ext cx="5560516" cy="1295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8584" y="1752600"/>
            <a:ext cx="419100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2884" y="18669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1984" y="2228850"/>
            <a:ext cx="15240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1984" y="2419350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4284" y="3048000"/>
            <a:ext cx="5560516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8584" y="3162300"/>
            <a:ext cx="41910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2884" y="32766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1984" y="3638550"/>
            <a:ext cx="15240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284" y="4267200"/>
            <a:ext cx="5560516" cy="1295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8584" y="4381500"/>
            <a:ext cx="41910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2884" y="44958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1984" y="4857750"/>
            <a:ext cx="15240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1984" y="5048250"/>
            <a:ext cx="1714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5448300"/>
            <a:ext cx="11277600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638800"/>
            <a:ext cx="171450" cy="3048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Trends – A Year in the Life of Our Hotels</a:t>
            </a:r>
            <a:endParaRPr lang="en-US" sz="2426" dirty="0"/>
          </a:p>
        </p:txBody>
      </p:sp>
      <p:sp>
        <p:nvSpPr>
          <p:cNvPr id="24" name="Text 1"/>
          <p:cNvSpPr/>
          <p:nvPr/>
        </p:nvSpPr>
        <p:spPr>
          <a:xfrm>
            <a:off x="571500" y="11049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"Summer is our stage. August shines, February whispers."</a:t>
            </a:r>
            <a:endParaRPr lang="en-US" sz="1380" dirty="0"/>
          </a:p>
        </p:txBody>
      </p:sp>
      <p:sp>
        <p:nvSpPr>
          <p:cNvPr id="25" name="Text 2"/>
          <p:cNvSpPr/>
          <p:nvPr/>
        </p:nvSpPr>
        <p:spPr>
          <a:xfrm>
            <a:off x="6821984" y="1752600"/>
            <a:ext cx="3975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August</a:t>
            </a:r>
            <a:r>
              <a:rPr lang="en-US" sz="98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Peak Season</a:t>
            </a:r>
            <a:endParaRPr lang="en-US" sz="1260" dirty="0"/>
          </a:p>
        </p:txBody>
      </p:sp>
      <p:sp>
        <p:nvSpPr>
          <p:cNvPr id="26" name="Text 3"/>
          <p:cNvSpPr/>
          <p:nvPr/>
        </p:nvSpPr>
        <p:spPr>
          <a:xfrm>
            <a:off x="6821984" y="2019300"/>
            <a:ext cx="4373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11.2K bookings</a:t>
            </a:r>
            <a:endParaRPr lang="en-US" sz="980" dirty="0"/>
          </a:p>
        </p:txBody>
      </p:sp>
      <p:sp>
        <p:nvSpPr>
          <p:cNvPr id="27" name="Text 4"/>
          <p:cNvSpPr/>
          <p:nvPr/>
        </p:nvSpPr>
        <p:spPr>
          <a:xfrm>
            <a:off x="6974384" y="2209800"/>
            <a:ext cx="4373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$2M revenue</a:t>
            </a:r>
            <a:endParaRPr lang="en-US" sz="980" dirty="0"/>
          </a:p>
        </p:txBody>
      </p:sp>
      <p:sp>
        <p:nvSpPr>
          <p:cNvPr id="28" name="Text 5"/>
          <p:cNvSpPr/>
          <p:nvPr/>
        </p:nvSpPr>
        <p:spPr>
          <a:xfrm>
            <a:off x="6993434" y="2400300"/>
            <a:ext cx="4373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12.9K nights</a:t>
            </a:r>
            <a:endParaRPr lang="en-US" sz="980" dirty="0"/>
          </a:p>
        </p:txBody>
      </p:sp>
      <p:sp>
        <p:nvSpPr>
          <p:cNvPr id="29" name="Text 6"/>
          <p:cNvSpPr/>
          <p:nvPr/>
        </p:nvSpPr>
        <p:spPr>
          <a:xfrm>
            <a:off x="6821984" y="2628900"/>
            <a:ext cx="4373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Families and tourists fill our rooms during summer vacation</a:t>
            </a:r>
            <a:endParaRPr lang="en-US" sz="980" dirty="0"/>
          </a:p>
        </p:txBody>
      </p:sp>
      <p:sp>
        <p:nvSpPr>
          <p:cNvPr id="30" name="Text 7"/>
          <p:cNvSpPr/>
          <p:nvPr/>
        </p:nvSpPr>
        <p:spPr>
          <a:xfrm>
            <a:off x="6821984" y="3162300"/>
            <a:ext cx="33578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December</a:t>
            </a:r>
            <a:r>
              <a:rPr lang="en-US" sz="98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Holiday Season</a:t>
            </a:r>
            <a:endParaRPr lang="en-US" sz="1260" dirty="0"/>
          </a:p>
        </p:txBody>
      </p:sp>
      <p:sp>
        <p:nvSpPr>
          <p:cNvPr id="31" name="Text 8"/>
          <p:cNvSpPr/>
          <p:nvPr/>
        </p:nvSpPr>
        <p:spPr>
          <a:xfrm>
            <a:off x="6821984" y="3429000"/>
            <a:ext cx="36936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10K bookings</a:t>
            </a:r>
            <a:endParaRPr lang="en-US" sz="980" dirty="0"/>
          </a:p>
        </p:txBody>
      </p:sp>
      <p:sp>
        <p:nvSpPr>
          <p:cNvPr id="32" name="Text 9"/>
          <p:cNvSpPr/>
          <p:nvPr/>
        </p:nvSpPr>
        <p:spPr>
          <a:xfrm>
            <a:off x="6974384" y="3619500"/>
            <a:ext cx="36936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$1.7M revenue</a:t>
            </a:r>
            <a:endParaRPr lang="en-US" sz="980" dirty="0"/>
          </a:p>
        </p:txBody>
      </p:sp>
      <p:sp>
        <p:nvSpPr>
          <p:cNvPr id="33" name="Text 10"/>
          <p:cNvSpPr/>
          <p:nvPr/>
        </p:nvSpPr>
        <p:spPr>
          <a:xfrm>
            <a:off x="6821984" y="3848100"/>
            <a:ext cx="36936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Holiday travelers make short, high-value bookings</a:t>
            </a:r>
            <a:endParaRPr lang="en-US" sz="980" dirty="0"/>
          </a:p>
        </p:txBody>
      </p:sp>
      <p:sp>
        <p:nvSpPr>
          <p:cNvPr id="34" name="Text 11"/>
          <p:cNvSpPr/>
          <p:nvPr/>
        </p:nvSpPr>
        <p:spPr>
          <a:xfrm>
            <a:off x="6821984" y="4381500"/>
            <a:ext cx="36183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February</a:t>
            </a:r>
            <a:r>
              <a:rPr lang="en-US" sz="980" b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Off-season</a:t>
            </a:r>
            <a:endParaRPr lang="en-US" sz="1260" dirty="0"/>
          </a:p>
        </p:txBody>
      </p:sp>
      <p:sp>
        <p:nvSpPr>
          <p:cNvPr id="35" name="Text 12"/>
          <p:cNvSpPr/>
          <p:nvPr/>
        </p:nvSpPr>
        <p:spPr>
          <a:xfrm>
            <a:off x="6821984" y="4648200"/>
            <a:ext cx="3980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4.7K bookings</a:t>
            </a:r>
            <a:endParaRPr lang="en-US" sz="980" dirty="0"/>
          </a:p>
        </p:txBody>
      </p:sp>
      <p:sp>
        <p:nvSpPr>
          <p:cNvPr id="36" name="Text 13"/>
          <p:cNvSpPr/>
          <p:nvPr/>
        </p:nvSpPr>
        <p:spPr>
          <a:xfrm>
            <a:off x="6974384" y="4838700"/>
            <a:ext cx="3980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$0.3M revenue</a:t>
            </a:r>
            <a:endParaRPr lang="en-US" sz="980" dirty="0"/>
          </a:p>
        </p:txBody>
      </p:sp>
      <p:sp>
        <p:nvSpPr>
          <p:cNvPr id="37" name="Text 14"/>
          <p:cNvSpPr/>
          <p:nvPr/>
        </p:nvSpPr>
        <p:spPr>
          <a:xfrm>
            <a:off x="6993434" y="5029200"/>
            <a:ext cx="3980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3.9K nights</a:t>
            </a:r>
            <a:endParaRPr lang="en-US" sz="980" dirty="0"/>
          </a:p>
        </p:txBody>
      </p:sp>
      <p:sp>
        <p:nvSpPr>
          <p:cNvPr id="38" name="Text 15"/>
          <p:cNvSpPr/>
          <p:nvPr/>
        </p:nvSpPr>
        <p:spPr>
          <a:xfrm>
            <a:off x="6821984" y="5257800"/>
            <a:ext cx="3980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Opportunity for off-season campaigns and promotions</a:t>
            </a:r>
            <a:endParaRPr lang="en-US" sz="980" dirty="0"/>
          </a:p>
        </p:txBody>
      </p:sp>
      <p:sp>
        <p:nvSpPr>
          <p:cNvPr id="39" name="Text 16"/>
          <p:cNvSpPr/>
          <p:nvPr/>
        </p:nvSpPr>
        <p:spPr>
          <a:xfrm>
            <a:off x="857250" y="5562600"/>
            <a:ext cx="1076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12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seasonality in bookings and revenue. Strategic planning for peak periods and targeted off-season campaigns can significantly boost performance during quieter months.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11277600" cy="647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095500"/>
            <a:ext cx="2743200" cy="1943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224790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6900" y="236220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581400"/>
            <a:ext cx="24384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581400"/>
            <a:ext cx="1584871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2800" y="2095500"/>
            <a:ext cx="2743200" cy="1943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2247900"/>
            <a:ext cx="53340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0100" y="23622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5200" y="3581400"/>
            <a:ext cx="2438400" cy="76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05200" y="3581400"/>
            <a:ext cx="975271" cy="76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095500"/>
            <a:ext cx="2743200" cy="1943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0900" y="2247900"/>
            <a:ext cx="53340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53300" y="23622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3581400"/>
            <a:ext cx="243840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8400" y="3581400"/>
            <a:ext cx="85338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39200" y="2095500"/>
            <a:ext cx="2743200" cy="1943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0" y="2247900"/>
            <a:ext cx="53340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96500" y="23622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91600" y="3581400"/>
            <a:ext cx="2438400" cy="76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91600" y="3581400"/>
            <a:ext cx="365671" cy="76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200" y="4419600"/>
            <a:ext cx="11277600" cy="952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" y="4648200"/>
            <a:ext cx="17145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5600700"/>
            <a:ext cx="11277600" cy="8001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5753100"/>
            <a:ext cx="419100" cy="495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867400"/>
            <a:ext cx="190500" cy="2667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Geographical Analysis – Where Do Guests Come From?</a:t>
            </a:r>
            <a:endParaRPr lang="en-US" sz="2426" dirty="0"/>
          </a:p>
        </p:txBody>
      </p:sp>
      <p:sp>
        <p:nvSpPr>
          <p:cNvPr id="31" name="Text 1"/>
          <p:cNvSpPr/>
          <p:nvPr/>
        </p:nvSpPr>
        <p:spPr>
          <a:xfrm>
            <a:off x="647700" y="1257300"/>
            <a:ext cx="119862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of our guests fly from Europe—but some make the long-haul journey from the US, China, or Australia.</a:t>
            </a:r>
            <a:endParaRPr lang="en-US" sz="1380" dirty="0"/>
          </a:p>
        </p:txBody>
      </p:sp>
      <p:sp>
        <p:nvSpPr>
          <p:cNvPr id="32" name="Text 2"/>
          <p:cNvSpPr/>
          <p:nvPr/>
        </p:nvSpPr>
        <p:spPr>
          <a:xfrm>
            <a:off x="1603028" y="2895600"/>
            <a:ext cx="831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Europe</a:t>
            </a:r>
            <a:endParaRPr lang="en-US" sz="1380" dirty="0"/>
          </a:p>
        </p:txBody>
      </p:sp>
      <p:sp>
        <p:nvSpPr>
          <p:cNvPr id="33" name="Text 3"/>
          <p:cNvSpPr/>
          <p:nvPr/>
        </p:nvSpPr>
        <p:spPr>
          <a:xfrm>
            <a:off x="1295259" y="3200400"/>
            <a:ext cx="1371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core market</a:t>
            </a:r>
            <a:endParaRPr lang="en-US" sz="1120" dirty="0"/>
          </a:p>
        </p:txBody>
      </p:sp>
      <p:sp>
        <p:nvSpPr>
          <p:cNvPr id="34" name="Text 4"/>
          <p:cNvSpPr/>
          <p:nvPr/>
        </p:nvSpPr>
        <p:spPr>
          <a:xfrm>
            <a:off x="1260708" y="3733800"/>
            <a:ext cx="144098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Dense booking activity</a:t>
            </a:r>
            <a:endParaRPr lang="en-US" sz="840" dirty="0"/>
          </a:p>
        </p:txBody>
      </p:sp>
      <p:sp>
        <p:nvSpPr>
          <p:cNvPr id="35" name="Text 5"/>
          <p:cNvSpPr/>
          <p:nvPr/>
        </p:nvSpPr>
        <p:spPr>
          <a:xfrm>
            <a:off x="3947815" y="2895600"/>
            <a:ext cx="17084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North America</a:t>
            </a:r>
            <a:endParaRPr lang="en-US" sz="1380" dirty="0"/>
          </a:p>
        </p:txBody>
      </p:sp>
      <p:sp>
        <p:nvSpPr>
          <p:cNvPr id="36" name="Text 6"/>
          <p:cNvSpPr/>
          <p:nvPr/>
        </p:nvSpPr>
        <p:spPr>
          <a:xfrm>
            <a:off x="3956276" y="3200400"/>
            <a:ext cx="153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 market</a:t>
            </a:r>
            <a:endParaRPr lang="en-US" sz="1120" dirty="0"/>
          </a:p>
        </p:txBody>
      </p:sp>
      <p:sp>
        <p:nvSpPr>
          <p:cNvPr id="37" name="Text 7"/>
          <p:cNvSpPr/>
          <p:nvPr/>
        </p:nvSpPr>
        <p:spPr>
          <a:xfrm>
            <a:off x="3763417" y="3733800"/>
            <a:ext cx="19219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 but smaller volume</a:t>
            </a:r>
            <a:endParaRPr lang="en-US" sz="840" dirty="0"/>
          </a:p>
        </p:txBody>
      </p:sp>
      <p:sp>
        <p:nvSpPr>
          <p:cNvPr id="38" name="Text 8"/>
          <p:cNvSpPr/>
          <p:nvPr/>
        </p:nvSpPr>
        <p:spPr>
          <a:xfrm>
            <a:off x="6852940" y="2895600"/>
            <a:ext cx="13520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Asia-Pacific</a:t>
            </a:r>
            <a:endParaRPr lang="en-US" sz="1380" dirty="0"/>
          </a:p>
        </p:txBody>
      </p:sp>
      <p:sp>
        <p:nvSpPr>
          <p:cNvPr id="39" name="Text 9"/>
          <p:cNvSpPr/>
          <p:nvPr/>
        </p:nvSpPr>
        <p:spPr>
          <a:xfrm>
            <a:off x="6699476" y="3200400"/>
            <a:ext cx="153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Secondary market</a:t>
            </a:r>
            <a:endParaRPr lang="en-US" sz="1120" dirty="0"/>
          </a:p>
        </p:txBody>
      </p:sp>
      <p:sp>
        <p:nvSpPr>
          <p:cNvPr id="40" name="Text 10"/>
          <p:cNvSpPr/>
          <p:nvPr/>
        </p:nvSpPr>
        <p:spPr>
          <a:xfrm>
            <a:off x="6728125" y="3733800"/>
            <a:ext cx="14788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Emerging opportunities</a:t>
            </a:r>
            <a:endParaRPr lang="en-US" sz="840" dirty="0"/>
          </a:p>
        </p:txBody>
      </p:sp>
      <p:sp>
        <p:nvSpPr>
          <p:cNvPr id="41" name="Text 11"/>
          <p:cNvSpPr/>
          <p:nvPr/>
        </p:nvSpPr>
        <p:spPr>
          <a:xfrm>
            <a:off x="9351615" y="2895600"/>
            <a:ext cx="18900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Africa &amp; SE Asia</a:t>
            </a:r>
            <a:endParaRPr lang="en-US" sz="1380" dirty="0"/>
          </a:p>
        </p:txBody>
      </p:sp>
      <p:sp>
        <p:nvSpPr>
          <p:cNvPr id="42" name="Text 12"/>
          <p:cNvSpPr/>
          <p:nvPr/>
        </p:nvSpPr>
        <p:spPr>
          <a:xfrm>
            <a:off x="9441031" y="3200400"/>
            <a:ext cx="1539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Emerging markets</a:t>
            </a:r>
            <a:endParaRPr lang="en-US" sz="1120" dirty="0"/>
          </a:p>
        </p:txBody>
      </p:sp>
      <p:sp>
        <p:nvSpPr>
          <p:cNvPr id="43" name="Text 13"/>
          <p:cNvSpPr/>
          <p:nvPr/>
        </p:nvSpPr>
        <p:spPr>
          <a:xfrm>
            <a:off x="9683495" y="3733800"/>
            <a:ext cx="10544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4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Growth potential</a:t>
            </a:r>
            <a:endParaRPr lang="en-US" sz="840" dirty="0"/>
          </a:p>
        </p:txBody>
      </p:sp>
      <p:sp>
        <p:nvSpPr>
          <p:cNvPr id="44" name="Text 14"/>
          <p:cNvSpPr/>
          <p:nvPr/>
        </p:nvSpPr>
        <p:spPr>
          <a:xfrm>
            <a:off x="971550" y="4610100"/>
            <a:ext cx="10538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Opportunity</a:t>
            </a:r>
            <a:endParaRPr lang="en-US" sz="1260" dirty="0"/>
          </a:p>
        </p:txBody>
      </p:sp>
      <p:sp>
        <p:nvSpPr>
          <p:cNvPr id="45" name="Text 15"/>
          <p:cNvSpPr/>
          <p:nvPr/>
        </p:nvSpPr>
        <p:spPr>
          <a:xfrm>
            <a:off x="971550" y="4914900"/>
            <a:ext cx="10538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While Europe fills our rooms in summer, targeting long-haul markets could bring higher-value bookings all year.</a:t>
            </a:r>
            <a:endParaRPr lang="en-US" sz="1260" dirty="0"/>
          </a:p>
        </p:txBody>
      </p:sp>
      <p:sp>
        <p:nvSpPr>
          <p:cNvPr id="46" name="Text 16"/>
          <p:cNvSpPr/>
          <p:nvPr/>
        </p:nvSpPr>
        <p:spPr>
          <a:xfrm>
            <a:off x="1181100" y="5886450"/>
            <a:ext cx="102584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"Focusing marketing on the US, China, and Australia could diversify our customer base and reduce European seasonality."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162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71628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11277600" cy="990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2573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4097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286000"/>
            <a:ext cx="5524500" cy="3200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743200"/>
            <a:ext cx="521970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724400"/>
            <a:ext cx="52197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857750"/>
            <a:ext cx="104775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286000"/>
            <a:ext cx="5524500" cy="3200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3307" y="28194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95232" y="3009900"/>
            <a:ext cx="28575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7813" y="28194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2601" y="3009900"/>
            <a:ext cx="20002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32107" y="2819400"/>
            <a:ext cx="6096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22607" y="3009900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4076700"/>
            <a:ext cx="521970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4210050"/>
            <a:ext cx="104775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943600"/>
            <a:ext cx="45720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60579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67600" y="5715000"/>
            <a:ext cx="4267200" cy="9906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&amp; Meal Choices – Understanding Guest Preferences</a:t>
            </a:r>
            <a:endParaRPr lang="en-US" sz="2426" dirty="0"/>
          </a:p>
        </p:txBody>
      </p:sp>
      <p:sp>
        <p:nvSpPr>
          <p:cNvPr id="24" name="Text 1"/>
          <p:cNvSpPr/>
          <p:nvPr/>
        </p:nvSpPr>
        <p:spPr>
          <a:xfrm>
            <a:off x="1409700" y="1314450"/>
            <a:ext cx="70746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A rooms dominate</a:t>
            </a:r>
            <a:endParaRPr lang="en-US" sz="1380" dirty="0"/>
          </a:p>
        </p:txBody>
      </p:sp>
      <p:sp>
        <p:nvSpPr>
          <p:cNvPr id="25" name="Text 2"/>
          <p:cNvSpPr/>
          <p:nvPr/>
        </p:nvSpPr>
        <p:spPr>
          <a:xfrm>
            <a:off x="1409700" y="1581150"/>
            <a:ext cx="70746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rooms account for ~80% of bookings, indicating a weak upselling strategy</a:t>
            </a:r>
            <a:endParaRPr lang="en-US" sz="1120" dirty="0"/>
          </a:p>
        </p:txBody>
      </p:sp>
      <p:sp>
        <p:nvSpPr>
          <p:cNvPr id="26" name="Text 3"/>
          <p:cNvSpPr/>
          <p:nvPr/>
        </p:nvSpPr>
        <p:spPr>
          <a:xfrm>
            <a:off x="609600" y="2438400"/>
            <a:ext cx="5741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Room Type Distribution</a:t>
            </a:r>
            <a:endParaRPr lang="en-US" sz="1120" dirty="0"/>
          </a:p>
        </p:txBody>
      </p:sp>
      <p:sp>
        <p:nvSpPr>
          <p:cNvPr id="27" name="Text 4"/>
          <p:cNvSpPr/>
          <p:nvPr/>
        </p:nvSpPr>
        <p:spPr>
          <a:xfrm>
            <a:off x="904875" y="483870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"Luxury seekers are a niche we can capture with targeted promotions for Types D/E"</a:t>
            </a:r>
            <a:endParaRPr lang="en-US" sz="980" dirty="0"/>
          </a:p>
        </p:txBody>
      </p:sp>
      <p:sp>
        <p:nvSpPr>
          <p:cNvPr id="28" name="Text 5"/>
          <p:cNvSpPr/>
          <p:nvPr/>
        </p:nvSpPr>
        <p:spPr>
          <a:xfrm>
            <a:off x="6362700" y="2438400"/>
            <a:ext cx="5741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Meal Plan Preferences</a:t>
            </a:r>
            <a:endParaRPr lang="en-US" sz="1120" dirty="0"/>
          </a:p>
        </p:txBody>
      </p:sp>
      <p:sp>
        <p:nvSpPr>
          <p:cNvPr id="29" name="Text 6"/>
          <p:cNvSpPr/>
          <p:nvPr/>
        </p:nvSpPr>
        <p:spPr>
          <a:xfrm>
            <a:off x="6764655" y="3505200"/>
            <a:ext cx="946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BB</a:t>
            </a:r>
            <a:endParaRPr lang="en-US" sz="1120" dirty="0"/>
          </a:p>
        </p:txBody>
      </p:sp>
      <p:sp>
        <p:nvSpPr>
          <p:cNvPr id="30" name="Text 7"/>
          <p:cNvSpPr/>
          <p:nvPr/>
        </p:nvSpPr>
        <p:spPr>
          <a:xfrm>
            <a:off x="6764655" y="3733800"/>
            <a:ext cx="9469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Most Popular</a:t>
            </a:r>
            <a:endParaRPr lang="en-US" sz="980" dirty="0"/>
          </a:p>
        </p:txBody>
      </p:sp>
      <p:sp>
        <p:nvSpPr>
          <p:cNvPr id="31" name="Text 8"/>
          <p:cNvSpPr/>
          <p:nvPr/>
        </p:nvSpPr>
        <p:spPr>
          <a:xfrm>
            <a:off x="8514092" y="3505200"/>
            <a:ext cx="977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HB</a:t>
            </a:r>
            <a:endParaRPr lang="en-US" sz="1120" dirty="0"/>
          </a:p>
        </p:txBody>
      </p:sp>
      <p:sp>
        <p:nvSpPr>
          <p:cNvPr id="32" name="Text 9"/>
          <p:cNvSpPr/>
          <p:nvPr/>
        </p:nvSpPr>
        <p:spPr>
          <a:xfrm>
            <a:off x="8514092" y="3733800"/>
            <a:ext cx="9771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Underutilized</a:t>
            </a:r>
            <a:endParaRPr lang="en-US" sz="980" dirty="0"/>
          </a:p>
        </p:txBody>
      </p:sp>
      <p:sp>
        <p:nvSpPr>
          <p:cNvPr id="33" name="Text 10"/>
          <p:cNvSpPr/>
          <p:nvPr/>
        </p:nvSpPr>
        <p:spPr>
          <a:xfrm>
            <a:off x="10296845" y="3505200"/>
            <a:ext cx="8802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FB</a:t>
            </a:r>
            <a:endParaRPr lang="en-US" sz="1120" dirty="0"/>
          </a:p>
        </p:txBody>
      </p:sp>
      <p:sp>
        <p:nvSpPr>
          <p:cNvPr id="34" name="Text 11"/>
          <p:cNvSpPr/>
          <p:nvPr/>
        </p:nvSpPr>
        <p:spPr>
          <a:xfrm>
            <a:off x="10296845" y="3733800"/>
            <a:ext cx="8802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Opportunity</a:t>
            </a:r>
            <a:endParaRPr lang="en-US" sz="980" dirty="0"/>
          </a:p>
        </p:txBody>
      </p:sp>
      <p:sp>
        <p:nvSpPr>
          <p:cNvPr id="35" name="Text 12"/>
          <p:cNvSpPr/>
          <p:nvPr/>
        </p:nvSpPr>
        <p:spPr>
          <a:xfrm>
            <a:off x="6657975" y="4191000"/>
            <a:ext cx="54902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"Guests prefer BB for flexibility—upsell HB/FB to increase revenue"</a:t>
            </a:r>
            <a:endParaRPr lang="en-US" sz="980" dirty="0"/>
          </a:p>
        </p:txBody>
      </p:sp>
      <p:sp>
        <p:nvSpPr>
          <p:cNvPr id="36" name="Text 13"/>
          <p:cNvSpPr/>
          <p:nvPr/>
        </p:nvSpPr>
        <p:spPr>
          <a:xfrm>
            <a:off x="1066800" y="5981700"/>
            <a:ext cx="48250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Upselling Opportunity:</a:t>
            </a:r>
            <a:endParaRPr lang="en-US" sz="1120" dirty="0"/>
          </a:p>
        </p:txBody>
      </p:sp>
      <p:sp>
        <p:nvSpPr>
          <p:cNvPr id="37" name="Text 14"/>
          <p:cNvSpPr/>
          <p:nvPr/>
        </p:nvSpPr>
        <p:spPr>
          <a:xfrm>
            <a:off x="1066800" y="6210300"/>
            <a:ext cx="48250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Premium rooms (D/E) account for only 5-15% of bookings</a:t>
            </a:r>
            <a:endParaRPr lang="en-US" sz="1120" dirty="0"/>
          </a:p>
        </p:txBody>
      </p:sp>
      <p:sp>
        <p:nvSpPr>
          <p:cNvPr id="38" name="Text 15"/>
          <p:cNvSpPr/>
          <p:nvPr/>
        </p:nvSpPr>
        <p:spPr>
          <a:xfrm>
            <a:off x="7620000" y="5867400"/>
            <a:ext cx="396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"What if we made Type D irresistible? Targeted promotions could convert standard bookings to premium rooms, increasing ADR and revenue."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112776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6900"/>
            <a:ext cx="2133600" cy="1562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201930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3988" y="2133600"/>
            <a:ext cx="200025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7988" y="249555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200" y="1866900"/>
            <a:ext cx="2133600" cy="1562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05300" y="2019300"/>
            <a:ext cx="53340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21336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5988" y="249555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1866900"/>
            <a:ext cx="2133600" cy="1562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3300" y="2019300"/>
            <a:ext cx="533400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5700" y="21336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988" y="2495550"/>
            <a:ext cx="20002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866900"/>
            <a:ext cx="2133600" cy="1562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1300" y="2019300"/>
            <a:ext cx="53340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3700" y="2133600"/>
            <a:ext cx="22860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657600"/>
            <a:ext cx="5524500" cy="1638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3848100"/>
            <a:ext cx="514350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3962400"/>
            <a:ext cx="2857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3657600"/>
            <a:ext cx="5524500" cy="1638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3848100"/>
            <a:ext cx="428625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15100" y="3962400"/>
            <a:ext cx="200025" cy="304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524500"/>
            <a:ext cx="11277600" cy="5334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 – Seeing the Future</a:t>
            </a:r>
            <a:endParaRPr lang="en-US" sz="2426" dirty="0"/>
          </a:p>
        </p:txBody>
      </p:sp>
      <p:sp>
        <p:nvSpPr>
          <p:cNvPr id="28" name="Text 1"/>
          <p:cNvSpPr/>
          <p:nvPr/>
        </p:nvSpPr>
        <p:spPr>
          <a:xfrm>
            <a:off x="609600" y="121920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"Imagine knowing which booking will cancel before it happens."</a:t>
            </a:r>
            <a:endParaRPr lang="en-US" sz="1380" dirty="0"/>
          </a:p>
        </p:txBody>
      </p:sp>
      <p:sp>
        <p:nvSpPr>
          <p:cNvPr id="29" name="Text 2"/>
          <p:cNvSpPr/>
          <p:nvPr/>
        </p:nvSpPr>
        <p:spPr>
          <a:xfrm>
            <a:off x="732621" y="2628900"/>
            <a:ext cx="15827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Data</a:t>
            </a:r>
            <a:endParaRPr lang="en-US" sz="1260" dirty="0"/>
          </a:p>
        </p:txBody>
      </p:sp>
      <p:sp>
        <p:nvSpPr>
          <p:cNvPr id="30" name="Text 3"/>
          <p:cNvSpPr/>
          <p:nvPr/>
        </p:nvSpPr>
        <p:spPr>
          <a:xfrm>
            <a:off x="609600" y="28956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Booking history &amp; outcomes</a:t>
            </a:r>
            <a:endParaRPr lang="en-US" sz="980" dirty="0"/>
          </a:p>
        </p:txBody>
      </p:sp>
      <p:sp>
        <p:nvSpPr>
          <p:cNvPr id="31" name="Text 4"/>
          <p:cNvSpPr/>
          <p:nvPr/>
        </p:nvSpPr>
        <p:spPr>
          <a:xfrm>
            <a:off x="4062703" y="2628900"/>
            <a:ext cx="1018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 Model</a:t>
            </a:r>
            <a:endParaRPr lang="en-US" sz="1260" dirty="0"/>
          </a:p>
        </p:txBody>
      </p:sp>
      <p:sp>
        <p:nvSpPr>
          <p:cNvPr id="32" name="Text 5"/>
          <p:cNvSpPr/>
          <p:nvPr/>
        </p:nvSpPr>
        <p:spPr>
          <a:xfrm>
            <a:off x="3657600" y="28956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Logistic Regression, Decision Trees</a:t>
            </a:r>
            <a:endParaRPr lang="en-US" sz="980" dirty="0"/>
          </a:p>
        </p:txBody>
      </p:sp>
      <p:sp>
        <p:nvSpPr>
          <p:cNvPr id="33" name="Text 6"/>
          <p:cNvSpPr/>
          <p:nvPr/>
        </p:nvSpPr>
        <p:spPr>
          <a:xfrm>
            <a:off x="7019188" y="2628900"/>
            <a:ext cx="120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Predictions</a:t>
            </a:r>
            <a:endParaRPr lang="en-US" sz="1260" dirty="0"/>
          </a:p>
        </p:txBody>
      </p:sp>
      <p:sp>
        <p:nvSpPr>
          <p:cNvPr id="34" name="Text 7"/>
          <p:cNvSpPr/>
          <p:nvPr/>
        </p:nvSpPr>
        <p:spPr>
          <a:xfrm>
            <a:off x="6705600" y="28956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Cancellation risk, demand forecast</a:t>
            </a:r>
            <a:endParaRPr lang="en-US" sz="980" dirty="0"/>
          </a:p>
        </p:txBody>
      </p:sp>
      <p:sp>
        <p:nvSpPr>
          <p:cNvPr id="35" name="Text 8"/>
          <p:cNvSpPr/>
          <p:nvPr/>
        </p:nvSpPr>
        <p:spPr>
          <a:xfrm>
            <a:off x="9798859" y="2628900"/>
            <a:ext cx="17382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Impact</a:t>
            </a:r>
            <a:endParaRPr lang="en-US" sz="1260" dirty="0"/>
          </a:p>
        </p:txBody>
      </p:sp>
      <p:sp>
        <p:nvSpPr>
          <p:cNvPr id="36" name="Text 9"/>
          <p:cNvSpPr/>
          <p:nvPr/>
        </p:nvSpPr>
        <p:spPr>
          <a:xfrm>
            <a:off x="9753600" y="2895600"/>
            <a:ext cx="182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decisions, revenue protection</a:t>
            </a:r>
            <a:endParaRPr lang="en-US" sz="980" dirty="0"/>
          </a:p>
        </p:txBody>
      </p:sp>
      <p:sp>
        <p:nvSpPr>
          <p:cNvPr id="37" name="Text 10"/>
          <p:cNvSpPr/>
          <p:nvPr/>
        </p:nvSpPr>
        <p:spPr>
          <a:xfrm>
            <a:off x="1314450" y="3848100"/>
            <a:ext cx="4924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High-Risk Cancellations</a:t>
            </a:r>
            <a:endParaRPr lang="en-US" sz="1380" dirty="0"/>
          </a:p>
        </p:txBody>
      </p:sp>
      <p:sp>
        <p:nvSpPr>
          <p:cNvPr id="38" name="Text 11"/>
          <p:cNvSpPr/>
          <p:nvPr/>
        </p:nvSpPr>
        <p:spPr>
          <a:xfrm>
            <a:off x="1314450" y="4191000"/>
            <a:ext cx="4476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 which bookings are most likely to cancel, enabling proactive interventions like personalized re-engagement offers or flexible booking options to reduce cancellation rates.</a:t>
            </a:r>
            <a:endParaRPr lang="en-US" sz="1120" dirty="0"/>
          </a:p>
        </p:txBody>
      </p:sp>
      <p:sp>
        <p:nvSpPr>
          <p:cNvPr id="39" name="Text 12"/>
          <p:cNvSpPr/>
          <p:nvPr/>
        </p:nvSpPr>
        <p:spPr>
          <a:xfrm>
            <a:off x="6981825" y="3848100"/>
            <a:ext cx="50187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 Seasonal Demand</a:t>
            </a:r>
            <a:endParaRPr lang="en-US" sz="1380" dirty="0"/>
          </a:p>
        </p:txBody>
      </p:sp>
      <p:sp>
        <p:nvSpPr>
          <p:cNvPr id="40" name="Text 13"/>
          <p:cNvSpPr/>
          <p:nvPr/>
        </p:nvSpPr>
        <p:spPr>
          <a:xfrm>
            <a:off x="6981825" y="4191000"/>
            <a:ext cx="4562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Forecast seasonal demand fluctuations to optimize staffing levels, adjust pricing strategies dynamically, and manage inventory more effectively during peak and off-peak periods.</a:t>
            </a:r>
            <a:endParaRPr lang="en-US" sz="1120" dirty="0"/>
          </a:p>
        </p:txBody>
      </p:sp>
      <p:sp>
        <p:nvSpPr>
          <p:cNvPr id="41" name="Text 14"/>
          <p:cNvSpPr/>
          <p:nvPr/>
        </p:nvSpPr>
        <p:spPr>
          <a:xfrm>
            <a:off x="60960" y="5676900"/>
            <a:ext cx="1207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"This predictive power is crucial for maintaining a competitive edge and ensuring every booking contributes optimally to our hotel's success."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11277600" cy="571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6900"/>
            <a:ext cx="3606701" cy="1905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0574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1526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2501" y="1866900"/>
            <a:ext cx="3606850" cy="1905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3001" y="20574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2538" y="2152650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866900"/>
            <a:ext cx="3606701" cy="1905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450" y="20574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51800" y="2152650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000500"/>
            <a:ext cx="9525000" cy="19050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 – Turning Insights into Action</a:t>
            </a:r>
            <a:endParaRPr lang="en-US" sz="2426" dirty="0"/>
          </a:p>
        </p:txBody>
      </p:sp>
      <p:sp>
        <p:nvSpPr>
          <p:cNvPr id="16" name="Text 1"/>
          <p:cNvSpPr/>
          <p:nvPr/>
        </p:nvSpPr>
        <p:spPr>
          <a:xfrm>
            <a:off x="609600" y="1219200"/>
            <a:ext cx="120700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"These numbers are not just metrics—they're opportunities to delight guests and increase revenue."</a:t>
            </a:r>
            <a:endParaRPr lang="en-US" sz="1380" dirty="0"/>
          </a:p>
        </p:txBody>
      </p:sp>
      <p:sp>
        <p:nvSpPr>
          <p:cNvPr id="17" name="Text 2"/>
          <p:cNvSpPr/>
          <p:nvPr/>
        </p:nvSpPr>
        <p:spPr>
          <a:xfrm>
            <a:off x="1219200" y="2152650"/>
            <a:ext cx="23711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Off-season Campaigns</a:t>
            </a:r>
            <a:endParaRPr lang="en-US" sz="1260" dirty="0"/>
          </a:p>
        </p:txBody>
      </p:sp>
      <p:sp>
        <p:nvSpPr>
          <p:cNvPr id="18" name="Text 3"/>
          <p:cNvSpPr/>
          <p:nvPr/>
        </p:nvSpPr>
        <p:spPr>
          <a:xfrm>
            <a:off x="647700" y="2628900"/>
            <a:ext cx="3225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Targeted promotions in February can increase bookings by</a:t>
            </a:r>
            <a:r>
              <a:rPr lang="en-US" sz="1120" b="1" dirty="0">
                <a:solidFill>
                  <a:srgbClr val="E07A5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15%</a:t>
            </a:r>
            <a:endParaRPr lang="en-US" sz="1120" dirty="0"/>
          </a:p>
        </p:txBody>
      </p:sp>
      <p:sp>
        <p:nvSpPr>
          <p:cNvPr id="19" name="Text 4"/>
          <p:cNvSpPr/>
          <p:nvPr/>
        </p:nvSpPr>
        <p:spPr>
          <a:xfrm>
            <a:off x="647700" y="3390900"/>
            <a:ext cx="35482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February currently has only 4.7K bookings</a:t>
            </a:r>
            <a:endParaRPr lang="en-US" sz="980" dirty="0"/>
          </a:p>
        </p:txBody>
      </p:sp>
      <p:sp>
        <p:nvSpPr>
          <p:cNvPr id="20" name="Text 5"/>
          <p:cNvSpPr/>
          <p:nvPr/>
        </p:nvSpPr>
        <p:spPr>
          <a:xfrm>
            <a:off x="5054501" y="2152650"/>
            <a:ext cx="2550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Upselling Type D Rooms</a:t>
            </a:r>
            <a:endParaRPr lang="en-US" sz="1260" dirty="0"/>
          </a:p>
        </p:txBody>
      </p:sp>
      <p:sp>
        <p:nvSpPr>
          <p:cNvPr id="21" name="Text 6"/>
          <p:cNvSpPr/>
          <p:nvPr/>
        </p:nvSpPr>
        <p:spPr>
          <a:xfrm>
            <a:off x="4483001" y="2628900"/>
            <a:ext cx="322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Promoting premium rooms can bring</a:t>
            </a:r>
            <a:r>
              <a:rPr lang="en-US" sz="1120" b="1" dirty="0">
                <a:solidFill>
                  <a:srgbClr val="E07A5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€50K</a:t>
            </a: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additional revenue monthly</a:t>
            </a:r>
            <a:endParaRPr lang="en-US" sz="1120" dirty="0"/>
          </a:p>
        </p:txBody>
      </p:sp>
      <p:sp>
        <p:nvSpPr>
          <p:cNvPr id="22" name="Text 7"/>
          <p:cNvSpPr/>
          <p:nvPr/>
        </p:nvSpPr>
        <p:spPr>
          <a:xfrm>
            <a:off x="4483001" y="3200400"/>
            <a:ext cx="3225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 D/E rooms account for only 5-15% of bookings</a:t>
            </a:r>
            <a:endParaRPr lang="en-US" sz="980" dirty="0"/>
          </a:p>
        </p:txBody>
      </p:sp>
      <p:sp>
        <p:nvSpPr>
          <p:cNvPr id="23" name="Text 8"/>
          <p:cNvSpPr/>
          <p:nvPr/>
        </p:nvSpPr>
        <p:spPr>
          <a:xfrm>
            <a:off x="8889950" y="2152650"/>
            <a:ext cx="27254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Long-haul Markets</a:t>
            </a:r>
            <a:endParaRPr lang="en-US" sz="1260" dirty="0"/>
          </a:p>
        </p:txBody>
      </p:sp>
      <p:sp>
        <p:nvSpPr>
          <p:cNvPr id="24" name="Text 9"/>
          <p:cNvSpPr/>
          <p:nvPr/>
        </p:nvSpPr>
        <p:spPr>
          <a:xfrm>
            <a:off x="8318450" y="2628900"/>
            <a:ext cx="32257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 on US, China, and Australia for</a:t>
            </a:r>
            <a:r>
              <a:rPr lang="en-US" sz="1120" b="1" dirty="0">
                <a:solidFill>
                  <a:srgbClr val="E07A5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€100K</a:t>
            </a: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revenue annually</a:t>
            </a:r>
            <a:endParaRPr lang="en-US" sz="1120" dirty="0"/>
          </a:p>
        </p:txBody>
      </p:sp>
      <p:sp>
        <p:nvSpPr>
          <p:cNvPr id="25" name="Text 10"/>
          <p:cNvSpPr/>
          <p:nvPr/>
        </p:nvSpPr>
        <p:spPr>
          <a:xfrm>
            <a:off x="8318450" y="3200400"/>
            <a:ext cx="32257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Diversify customer base beyond European seasonality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11734800" cy="6972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66800"/>
            <a:ext cx="112776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305050"/>
            <a:ext cx="2438400" cy="144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9275" y="2457450"/>
            <a:ext cx="47625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3575" y="2571750"/>
            <a:ext cx="2476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2875" y="2686050"/>
            <a:ext cx="2476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6800" y="2209800"/>
            <a:ext cx="2438400" cy="163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72163" y="2362200"/>
            <a:ext cx="447675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86463" y="2476500"/>
            <a:ext cx="219075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475" y="2686050"/>
            <a:ext cx="24765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5400" y="2305050"/>
            <a:ext cx="2438400" cy="1447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7425" y="2457450"/>
            <a:ext cx="51435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91725" y="257175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076700"/>
            <a:ext cx="5524500" cy="1104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229100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4076700"/>
            <a:ext cx="5524500" cy="1104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4229100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410200"/>
            <a:ext cx="5524500" cy="1104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5626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5410200"/>
            <a:ext cx="5524500" cy="1104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2700" y="5562600"/>
            <a:ext cx="190500" cy="2667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– The Story We've Told</a:t>
            </a:r>
            <a:endParaRPr lang="en-US" sz="2426" dirty="0"/>
          </a:p>
        </p:txBody>
      </p:sp>
      <p:sp>
        <p:nvSpPr>
          <p:cNvPr id="25" name="Text 1"/>
          <p:cNvSpPr/>
          <p:nvPr/>
        </p:nvSpPr>
        <p:spPr>
          <a:xfrm>
            <a:off x="647700" y="1257300"/>
            <a:ext cx="10896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i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"From raw data to insights to action, we now know our guests, understand the peaks and valleys, and have a roadmap to grow revenue and loyalty."</a:t>
            </a:r>
            <a:endParaRPr lang="en-US" sz="1380" dirty="0"/>
          </a:p>
        </p:txBody>
      </p:sp>
      <p:sp>
        <p:nvSpPr>
          <p:cNvPr id="26" name="Text 2"/>
          <p:cNvSpPr/>
          <p:nvPr/>
        </p:nvSpPr>
        <p:spPr>
          <a:xfrm>
            <a:off x="1550551" y="3143250"/>
            <a:ext cx="10136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Raw Data</a:t>
            </a:r>
            <a:endParaRPr lang="en-US" sz="1260" dirty="0"/>
          </a:p>
        </p:txBody>
      </p:sp>
      <p:sp>
        <p:nvSpPr>
          <p:cNvPr id="27" name="Text 3"/>
          <p:cNvSpPr/>
          <p:nvPr/>
        </p:nvSpPr>
        <p:spPr>
          <a:xfrm>
            <a:off x="965448" y="3409950"/>
            <a:ext cx="21839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87K bookings, 9.76M revenue</a:t>
            </a:r>
            <a:endParaRPr lang="en-US" sz="980" dirty="0"/>
          </a:p>
        </p:txBody>
      </p:sp>
      <p:sp>
        <p:nvSpPr>
          <p:cNvPr id="28" name="Text 4"/>
          <p:cNvSpPr/>
          <p:nvPr/>
        </p:nvSpPr>
        <p:spPr>
          <a:xfrm>
            <a:off x="5669377" y="3048000"/>
            <a:ext cx="8530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Insights</a:t>
            </a:r>
            <a:endParaRPr lang="en-US" sz="1260" dirty="0"/>
          </a:p>
        </p:txBody>
      </p:sp>
      <p:sp>
        <p:nvSpPr>
          <p:cNvPr id="29" name="Text 5"/>
          <p:cNvSpPr/>
          <p:nvPr/>
        </p:nvSpPr>
        <p:spPr>
          <a:xfrm>
            <a:off x="5029200" y="3314700"/>
            <a:ext cx="213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Guest personas, seasonal patterns</a:t>
            </a:r>
            <a:endParaRPr lang="en-US" sz="980" dirty="0"/>
          </a:p>
        </p:txBody>
      </p:sp>
      <p:sp>
        <p:nvSpPr>
          <p:cNvPr id="30" name="Text 6"/>
          <p:cNvSpPr/>
          <p:nvPr/>
        </p:nvSpPr>
        <p:spPr>
          <a:xfrm>
            <a:off x="9796373" y="3143250"/>
            <a:ext cx="6764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Action</a:t>
            </a:r>
            <a:endParaRPr lang="en-US" sz="1260" dirty="0"/>
          </a:p>
        </p:txBody>
      </p:sp>
      <p:sp>
        <p:nvSpPr>
          <p:cNvPr id="31" name="Text 7"/>
          <p:cNvSpPr/>
          <p:nvPr/>
        </p:nvSpPr>
        <p:spPr>
          <a:xfrm>
            <a:off x="9116154" y="3409950"/>
            <a:ext cx="20368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8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recommendations</a:t>
            </a:r>
            <a:endParaRPr lang="en-US" sz="980" dirty="0"/>
          </a:p>
        </p:txBody>
      </p:sp>
      <p:sp>
        <p:nvSpPr>
          <p:cNvPr id="32" name="Text 8"/>
          <p:cNvSpPr/>
          <p:nvPr/>
        </p:nvSpPr>
        <p:spPr>
          <a:xfrm>
            <a:off x="923925" y="4248150"/>
            <a:ext cx="17096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Know Your Guests</a:t>
            </a:r>
            <a:endParaRPr lang="en-US" sz="1120" dirty="0"/>
          </a:p>
        </p:txBody>
      </p:sp>
      <p:sp>
        <p:nvSpPr>
          <p:cNvPr id="33" name="Text 9"/>
          <p:cNvSpPr/>
          <p:nvPr/>
        </p:nvSpPr>
        <p:spPr>
          <a:xfrm>
            <a:off x="609600" y="45720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City hotels: business travelers, short staysResorts: families, leisure travelers</a:t>
            </a:r>
            <a:endParaRPr lang="en-US" sz="1120" dirty="0"/>
          </a:p>
        </p:txBody>
      </p:sp>
      <p:sp>
        <p:nvSpPr>
          <p:cNvPr id="34" name="Text 10"/>
          <p:cNvSpPr/>
          <p:nvPr/>
        </p:nvSpPr>
        <p:spPr>
          <a:xfrm>
            <a:off x="6610350" y="4248150"/>
            <a:ext cx="1944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 Seasons</a:t>
            </a:r>
            <a:endParaRPr lang="en-US" sz="1120" dirty="0"/>
          </a:p>
        </p:txBody>
      </p:sp>
      <p:sp>
        <p:nvSpPr>
          <p:cNvPr id="35" name="Text 11"/>
          <p:cNvSpPr/>
          <p:nvPr/>
        </p:nvSpPr>
        <p:spPr>
          <a:xfrm>
            <a:off x="6362700" y="45720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August/December: peaksFebruary: opportunity for campaigns</a:t>
            </a:r>
            <a:endParaRPr lang="en-US" sz="1120" dirty="0"/>
          </a:p>
        </p:txBody>
      </p:sp>
      <p:sp>
        <p:nvSpPr>
          <p:cNvPr id="36" name="Text 12"/>
          <p:cNvSpPr/>
          <p:nvPr/>
        </p:nvSpPr>
        <p:spPr>
          <a:xfrm>
            <a:off x="876300" y="5581650"/>
            <a:ext cx="1423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Markets</a:t>
            </a:r>
            <a:endParaRPr lang="en-US" sz="1120" dirty="0"/>
          </a:p>
        </p:txBody>
      </p:sp>
      <p:sp>
        <p:nvSpPr>
          <p:cNvPr id="37" name="Text 13"/>
          <p:cNvSpPr/>
          <p:nvPr/>
        </p:nvSpPr>
        <p:spPr>
          <a:xfrm>
            <a:off x="609600" y="59055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Europe: core marketNorth America, Asia-Pacific: growth potential</a:t>
            </a:r>
            <a:endParaRPr lang="en-US" sz="1120" dirty="0"/>
          </a:p>
        </p:txBody>
      </p:sp>
      <p:sp>
        <p:nvSpPr>
          <p:cNvPr id="38" name="Text 14"/>
          <p:cNvSpPr/>
          <p:nvPr/>
        </p:nvSpPr>
        <p:spPr>
          <a:xfrm>
            <a:off x="6629400" y="5581650"/>
            <a:ext cx="1962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Roadmap for Growth</a:t>
            </a:r>
            <a:endParaRPr lang="en-US" sz="1120" dirty="0"/>
          </a:p>
        </p:txBody>
      </p:sp>
      <p:sp>
        <p:nvSpPr>
          <p:cNvPr id="39" name="Text 15"/>
          <p:cNvSpPr/>
          <p:nvPr/>
        </p:nvSpPr>
        <p:spPr>
          <a:xfrm>
            <a:off x="6362700" y="5905500"/>
            <a:ext cx="57416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12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Off-season campaigns, upselling, market expansion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3000"/>
            <a:ext cx="11277600" cy="1409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466850"/>
            <a:ext cx="809625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1657350"/>
            <a:ext cx="428625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52800"/>
            <a:ext cx="3555950" cy="1943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0301" y="3543300"/>
            <a:ext cx="609600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5088" y="3695700"/>
            <a:ext cx="20002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7950" y="3352800"/>
            <a:ext cx="3555950" cy="1943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1051" y="35433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2976" y="36957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78701" y="3352800"/>
            <a:ext cx="3556099" cy="1943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1950" y="3543300"/>
            <a:ext cx="6096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2450" y="36957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600700"/>
            <a:ext cx="447675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715000"/>
            <a:ext cx="219075" cy="3429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457200"/>
            <a:ext cx="12405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3000"/>
              </a:lnSpc>
              <a:buNone/>
            </a:pPr>
            <a:r>
              <a:rPr lang="en-US" sz="2426" b="1" dirty="0">
                <a:solidFill>
                  <a:srgbClr val="3D40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– Join the Story</a:t>
            </a:r>
            <a:endParaRPr lang="en-US" sz="2426" dirty="0"/>
          </a:p>
        </p:txBody>
      </p:sp>
      <p:sp>
        <p:nvSpPr>
          <p:cNvPr id="21" name="Text 1"/>
          <p:cNvSpPr/>
          <p:nvPr/>
        </p:nvSpPr>
        <p:spPr>
          <a:xfrm>
            <a:off x="1724025" y="1371600"/>
            <a:ext cx="97821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lang="en-US" sz="1646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I'm excited to hear your questions or thoughts on how we can make each guest experience even better.</a:t>
            </a:r>
            <a:endParaRPr lang="en-US" sz="1646" dirty="0"/>
          </a:p>
        </p:txBody>
      </p:sp>
      <p:sp>
        <p:nvSpPr>
          <p:cNvPr id="22" name="Text 2"/>
          <p:cNvSpPr/>
          <p:nvPr/>
        </p:nvSpPr>
        <p:spPr>
          <a:xfrm>
            <a:off x="1724025" y="2057400"/>
            <a:ext cx="107603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Your insights could help shape our future strategies and drive meaningful improvements in our hotel operations.</a:t>
            </a:r>
            <a:endParaRPr lang="en-US" sz="1260" dirty="0"/>
          </a:p>
        </p:txBody>
      </p:sp>
      <p:sp>
        <p:nvSpPr>
          <p:cNvPr id="23" name="Text 3"/>
          <p:cNvSpPr/>
          <p:nvPr/>
        </p:nvSpPr>
        <p:spPr>
          <a:xfrm>
            <a:off x="457200" y="2857500"/>
            <a:ext cx="12405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38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strategy excites you most?</a:t>
            </a:r>
            <a:endParaRPr lang="en-US" sz="1380" dirty="0"/>
          </a:p>
        </p:txBody>
      </p:sp>
      <p:sp>
        <p:nvSpPr>
          <p:cNvPr id="24" name="Text 4"/>
          <p:cNvSpPr/>
          <p:nvPr/>
        </p:nvSpPr>
        <p:spPr>
          <a:xfrm>
            <a:off x="1049506" y="4305300"/>
            <a:ext cx="23711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Off-season Campaigns</a:t>
            </a:r>
            <a:endParaRPr lang="en-US" sz="1260" dirty="0"/>
          </a:p>
        </p:txBody>
      </p:sp>
      <p:sp>
        <p:nvSpPr>
          <p:cNvPr id="25" name="Text 5"/>
          <p:cNvSpPr/>
          <p:nvPr/>
        </p:nvSpPr>
        <p:spPr>
          <a:xfrm>
            <a:off x="647700" y="4648200"/>
            <a:ext cx="317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Targeting February with special promotions to increase bookings by 15%</a:t>
            </a:r>
            <a:endParaRPr lang="en-US" sz="1120" dirty="0"/>
          </a:p>
        </p:txBody>
      </p:sp>
      <p:sp>
        <p:nvSpPr>
          <p:cNvPr id="26" name="Text 6"/>
          <p:cNvSpPr/>
          <p:nvPr/>
        </p:nvSpPr>
        <p:spPr>
          <a:xfrm>
            <a:off x="5210666" y="4305300"/>
            <a:ext cx="17703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Upselling Rooms</a:t>
            </a:r>
            <a:endParaRPr lang="en-US" sz="1260" dirty="0"/>
          </a:p>
        </p:txBody>
      </p:sp>
      <p:sp>
        <p:nvSpPr>
          <p:cNvPr id="27" name="Text 7"/>
          <p:cNvSpPr/>
          <p:nvPr/>
        </p:nvSpPr>
        <p:spPr>
          <a:xfrm>
            <a:off x="4508450" y="4648200"/>
            <a:ext cx="3174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Promoting premium Type D rooms for an additional €50K monthly revenue</a:t>
            </a:r>
            <a:endParaRPr lang="en-US" sz="1120" dirty="0"/>
          </a:p>
        </p:txBody>
      </p:sp>
      <p:sp>
        <p:nvSpPr>
          <p:cNvPr id="28" name="Text 8"/>
          <p:cNvSpPr/>
          <p:nvPr/>
        </p:nvSpPr>
        <p:spPr>
          <a:xfrm>
            <a:off x="8965652" y="4305300"/>
            <a:ext cx="19820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26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Long-haul Markets</a:t>
            </a:r>
            <a:endParaRPr lang="en-US" sz="1260" dirty="0"/>
          </a:p>
        </p:txBody>
      </p:sp>
      <p:sp>
        <p:nvSpPr>
          <p:cNvPr id="29" name="Text 9"/>
          <p:cNvSpPr/>
          <p:nvPr/>
        </p:nvSpPr>
        <p:spPr>
          <a:xfrm>
            <a:off x="8369201" y="4648200"/>
            <a:ext cx="31750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Targeting US, China, and Australia for €100K additional annual revenue</a:t>
            </a:r>
            <a:endParaRPr lang="en-US" sz="1120" dirty="0"/>
          </a:p>
        </p:txBody>
      </p:sp>
      <p:sp>
        <p:nvSpPr>
          <p:cNvPr id="30" name="Text 10"/>
          <p:cNvSpPr/>
          <p:nvPr/>
        </p:nvSpPr>
        <p:spPr>
          <a:xfrm>
            <a:off x="1057275" y="5753100"/>
            <a:ext cx="532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sz="126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Share your ideas and help shape our data-driven future!</a:t>
            </a:r>
            <a:endParaRPr lang="en-US" sz="1260" dirty="0"/>
          </a:p>
        </p:txBody>
      </p:sp>
      <p:sp>
        <p:nvSpPr>
          <p:cNvPr id="31" name="Text 11"/>
          <p:cNvSpPr/>
          <p:nvPr/>
        </p:nvSpPr>
        <p:spPr>
          <a:xfrm>
            <a:off x="9456986" y="5772150"/>
            <a:ext cx="2379866" cy="211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Microsoft Office PowerPoint</Application>
  <PresentationFormat>Widescreen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makhloufimahdi</cp:lastModifiedBy>
  <cp:revision>2</cp:revision>
  <dcterms:created xsi:type="dcterms:W3CDTF">2025-09-20T12:13:32Z</dcterms:created>
  <dcterms:modified xsi:type="dcterms:W3CDTF">2025-09-20T15:45:00Z</dcterms:modified>
</cp:coreProperties>
</file>